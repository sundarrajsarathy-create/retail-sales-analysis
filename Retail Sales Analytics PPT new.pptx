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3"/>
  </p:notesMasterIdLst>
  <p:sldIdLst>
    <p:sldId id="266" r:id="rId5"/>
    <p:sldId id="272" r:id="rId6"/>
    <p:sldId id="271" r:id="rId7"/>
    <p:sldId id="273" r:id="rId8"/>
    <p:sldId id="274" r:id="rId9"/>
    <p:sldId id="275" r:id="rId10"/>
    <p:sldId id="276" r:id="rId11"/>
    <p:sldId id="27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7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C6636C-E5DC-4759-91FA-3F5F92DD966B}" type="doc">
      <dgm:prSet loTypeId="urn:microsoft.com/office/officeart/2005/8/layout/default" loCatId="list" qsTypeId="urn:microsoft.com/office/officeart/2005/8/quickstyle/simple1#104" qsCatId="simple" csTypeId="urn:microsoft.com/office/officeart/2005/8/colors/colorful2#17" csCatId="colorful" phldr="1"/>
      <dgm:spPr/>
      <dgm:t>
        <a:bodyPr/>
        <a:lstStyle/>
        <a:p>
          <a:endParaRPr lang="en-US"/>
        </a:p>
      </dgm:t>
    </dgm:pt>
    <dgm:pt modelId="{1BB775B9-C27C-415D-AB0E-A701549B07DA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1400"/>
            <a:t>Load Data from SQL</a:t>
          </a:r>
          <a:endParaRPr lang="en-US" sz="1400" dirty="0"/>
        </a:p>
      </dgm:t>
    </dgm:pt>
    <dgm:pt modelId="{2206B9ED-5D5F-4EE7-8A8C-5141EB0BF516}" type="parTrans" cxnId="{F113F295-B179-401D-B4A2-039B10984F41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7E8C8BC4-2FA3-4C68-A48B-90ECE7E9A14A}" type="sibTrans" cxnId="{F113F295-B179-401D-B4A2-039B10984F41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27FC6F59-4746-45E3-814C-F14AA5340598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/>
            <a:t>Basic EDA (Exploratory Data Analysis) Use </a:t>
          </a:r>
          <a:r>
            <a:rPr lang="en-US" dirty="0" err="1"/>
            <a:t>df</a:t>
          </a:r>
          <a:r>
            <a:rPr lang="en-US" dirty="0"/>
            <a:t> .describe(), df.info(), and </a:t>
          </a:r>
          <a:r>
            <a:rPr lang="en-US" dirty="0" err="1"/>
            <a:t>df</a:t>
          </a:r>
          <a:r>
            <a:rPr lang="en-US" dirty="0"/>
            <a:t>. Value counts() to summarize the</a:t>
          </a:r>
          <a:r>
            <a:rPr lang="en-IN" dirty="0"/>
            <a:t> </a:t>
          </a:r>
          <a:r>
            <a:rPr lang="en-US" dirty="0"/>
            <a:t>dataset.</a:t>
          </a:r>
        </a:p>
      </dgm:t>
    </dgm:pt>
    <dgm:pt modelId="{07682FAF-E46A-41C7-841A-14CB6C8B56AD}" type="parTrans" cxnId="{96329FD1-9347-40A1-8A5D-8C651EE641FA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76BD095B-2431-4897-8B00-520596D25ECB}" type="sibTrans" cxnId="{96329FD1-9347-40A1-8A5D-8C651EE641FA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89698F5E-6B15-4E01-B510-B0E62AD80300}">
      <dgm:prSet/>
      <dgm:spPr/>
      <dgm:t>
        <a:bodyPr/>
        <a:lstStyle/>
        <a:p>
          <a:pPr>
            <a:lnSpc>
              <a:spcPct val="150000"/>
            </a:lnSpc>
          </a:pPr>
          <a:r>
            <a:rPr lang="en-US"/>
            <a:t>Plot basic charts using matplotlib or seaborn.</a:t>
          </a:r>
        </a:p>
      </dgm:t>
    </dgm:pt>
    <dgm:pt modelId="{C02C7C56-0DD6-4934-8296-E82364096FC7}" type="parTrans" cxnId="{32783A98-3DBD-4067-9FC6-77AE7297A310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C54E4DF8-40BB-4CB8-B4EF-34E9B1DC8656}" type="sibTrans" cxnId="{32783A98-3DBD-4067-9FC6-77AE7297A310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3717C318-C395-4179-A675-035C23F6CEDF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/>
            <a:t>Calculate RFM Features for Customers</a:t>
          </a:r>
          <a:r>
            <a:rPr lang="en-IN" dirty="0"/>
            <a:t> segmentation</a:t>
          </a:r>
          <a:endParaRPr lang="en-US" dirty="0"/>
        </a:p>
      </dgm:t>
    </dgm:pt>
    <dgm:pt modelId="{B23E97DE-7BD8-45D0-9958-E8BDC2F98A69}" type="parTrans" cxnId="{C70F4BE4-D388-4C14-8644-07D705AFF8CB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5DDCACCB-9094-43CE-B08B-3BF796B71389}" type="sibTrans" cxnId="{C70F4BE4-D388-4C14-8644-07D705AFF8CB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C3070161-89FC-469B-96EB-171AB87AEE8F}">
      <dgm:prSet/>
      <dgm:spPr/>
      <dgm:t>
        <a:bodyPr/>
        <a:lstStyle/>
        <a:p>
          <a:pPr>
            <a:lnSpc>
              <a:spcPct val="150000"/>
            </a:lnSpc>
          </a:pPr>
          <a:r>
            <a:rPr lang="en-US"/>
            <a:t>Recency: Days since last order</a:t>
          </a:r>
        </a:p>
      </dgm:t>
    </dgm:pt>
    <dgm:pt modelId="{FEF18C51-BA8D-47CD-9F6E-6171444D6238}" type="parTrans" cxnId="{27E5C1CD-D6A7-44AF-9361-00F27EF5F718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7897FCA0-CB20-4FE2-A781-CE4C3BE6D4A7}" type="sibTrans" cxnId="{27E5C1CD-D6A7-44AF-9361-00F27EF5F718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A14BE486-3399-48EC-BEBE-A2F8EFBAFA1C}">
      <dgm:prSet/>
      <dgm:spPr/>
      <dgm:t>
        <a:bodyPr/>
        <a:lstStyle/>
        <a:p>
          <a:pPr>
            <a:lnSpc>
              <a:spcPct val="150000"/>
            </a:lnSpc>
          </a:pPr>
          <a:r>
            <a:rPr lang="en-US"/>
            <a:t>Frequency: Number of orders</a:t>
          </a:r>
        </a:p>
      </dgm:t>
    </dgm:pt>
    <dgm:pt modelId="{F2E2B894-2C6C-4D62-97B0-19D2FD953DB0}" type="parTrans" cxnId="{ABD55BC3-BC7D-4993-BE41-5475301C92F3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9D1CAB07-ADA6-4331-8C22-58353631BBC1}" type="sibTrans" cxnId="{ABD55BC3-BC7D-4993-BE41-5475301C92F3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D176C322-2D9A-48B7-B917-E35BFE5C6B79}">
      <dgm:prSet/>
      <dgm:spPr/>
      <dgm:t>
        <a:bodyPr/>
        <a:lstStyle/>
        <a:p>
          <a:pPr>
            <a:lnSpc>
              <a:spcPct val="150000"/>
            </a:lnSpc>
          </a:pPr>
          <a:r>
            <a:rPr lang="en-US"/>
            <a:t>Monetary: Total value of all purchases</a:t>
          </a:r>
        </a:p>
      </dgm:t>
    </dgm:pt>
    <dgm:pt modelId="{EC6C5DF8-5ECA-483C-8791-E7DE2F2D48AC}" type="parTrans" cxnId="{A2240052-9E26-41AC-AE17-49B5583140A0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32FDE70B-E372-47C7-AB23-0B466CA5620C}" type="sibTrans" cxnId="{A2240052-9E26-41AC-AE17-49B5583140A0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ECC3398D-7C65-49C9-848A-97AC544D2B8E}">
      <dgm:prSet/>
      <dgm:spPr/>
      <dgm:t>
        <a:bodyPr/>
        <a:lstStyle/>
        <a:p>
          <a:pPr>
            <a:lnSpc>
              <a:spcPct val="150000"/>
            </a:lnSpc>
          </a:pPr>
          <a:r>
            <a:rPr lang="en-US"/>
            <a:t>Export Segmentation Results to SQL</a:t>
          </a:r>
        </a:p>
      </dgm:t>
    </dgm:pt>
    <dgm:pt modelId="{F3DB7B1E-CE77-4469-8218-2CC879DBCE31}" type="parTrans" cxnId="{584F8103-4C36-444C-9691-223D59E254A7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824E4178-74E2-4DE4-88E2-4E0D945F5FD5}" type="sibTrans" cxnId="{584F8103-4C36-444C-9691-223D59E254A7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23F52D64-C568-41C2-B76A-8B0D490AA1A5}" type="pres">
      <dgm:prSet presAssocID="{E6C6636C-E5DC-4759-91FA-3F5F92DD966B}" presName="diagram" presStyleCnt="0">
        <dgm:presLayoutVars>
          <dgm:dir/>
          <dgm:resizeHandles val="exact"/>
        </dgm:presLayoutVars>
      </dgm:prSet>
      <dgm:spPr/>
    </dgm:pt>
    <dgm:pt modelId="{43708ED2-AF58-4CA2-9EFF-5759B0D9AFAE}" type="pres">
      <dgm:prSet presAssocID="{1BB775B9-C27C-415D-AB0E-A701549B07DA}" presName="node" presStyleLbl="node1" presStyleIdx="0" presStyleCnt="8">
        <dgm:presLayoutVars>
          <dgm:bulletEnabled val="1"/>
        </dgm:presLayoutVars>
      </dgm:prSet>
      <dgm:spPr/>
    </dgm:pt>
    <dgm:pt modelId="{0423A876-6A35-431E-8C90-3922C09C934A}" type="pres">
      <dgm:prSet presAssocID="{7E8C8BC4-2FA3-4C68-A48B-90ECE7E9A14A}" presName="sibTrans" presStyleCnt="0"/>
      <dgm:spPr/>
    </dgm:pt>
    <dgm:pt modelId="{5307F857-C2B0-4F3A-8C40-D9A58DD05B44}" type="pres">
      <dgm:prSet presAssocID="{27FC6F59-4746-45E3-814C-F14AA5340598}" presName="node" presStyleLbl="node1" presStyleIdx="1" presStyleCnt="8">
        <dgm:presLayoutVars>
          <dgm:bulletEnabled val="1"/>
        </dgm:presLayoutVars>
      </dgm:prSet>
      <dgm:spPr/>
    </dgm:pt>
    <dgm:pt modelId="{781D5A97-E473-4411-823A-031E169A925C}" type="pres">
      <dgm:prSet presAssocID="{76BD095B-2431-4897-8B00-520596D25ECB}" presName="sibTrans" presStyleCnt="0"/>
      <dgm:spPr/>
    </dgm:pt>
    <dgm:pt modelId="{4386E6BA-69DD-41C7-BFC0-1C78DFB5F138}" type="pres">
      <dgm:prSet presAssocID="{89698F5E-6B15-4E01-B510-B0E62AD80300}" presName="node" presStyleLbl="node1" presStyleIdx="2" presStyleCnt="8">
        <dgm:presLayoutVars>
          <dgm:bulletEnabled val="1"/>
        </dgm:presLayoutVars>
      </dgm:prSet>
      <dgm:spPr/>
    </dgm:pt>
    <dgm:pt modelId="{ABB005E6-B550-4B4E-AD9E-31336BB31045}" type="pres">
      <dgm:prSet presAssocID="{C54E4DF8-40BB-4CB8-B4EF-34E9B1DC8656}" presName="sibTrans" presStyleCnt="0"/>
      <dgm:spPr/>
    </dgm:pt>
    <dgm:pt modelId="{32F191AA-4FA0-48B1-960F-4E7511614903}" type="pres">
      <dgm:prSet presAssocID="{3717C318-C395-4179-A675-035C23F6CEDF}" presName="node" presStyleLbl="node1" presStyleIdx="3" presStyleCnt="8">
        <dgm:presLayoutVars>
          <dgm:bulletEnabled val="1"/>
        </dgm:presLayoutVars>
      </dgm:prSet>
      <dgm:spPr/>
    </dgm:pt>
    <dgm:pt modelId="{5C76C5BC-9DD1-4579-A950-A6CC7363CFC7}" type="pres">
      <dgm:prSet presAssocID="{5DDCACCB-9094-43CE-B08B-3BF796B71389}" presName="sibTrans" presStyleCnt="0"/>
      <dgm:spPr/>
    </dgm:pt>
    <dgm:pt modelId="{795E88A1-1E68-4450-ABD3-E6573B5AB6E2}" type="pres">
      <dgm:prSet presAssocID="{C3070161-89FC-469B-96EB-171AB87AEE8F}" presName="node" presStyleLbl="node1" presStyleIdx="4" presStyleCnt="8">
        <dgm:presLayoutVars>
          <dgm:bulletEnabled val="1"/>
        </dgm:presLayoutVars>
      </dgm:prSet>
      <dgm:spPr/>
    </dgm:pt>
    <dgm:pt modelId="{0639B0F4-C8DC-443B-ADBD-B2AB8E991D96}" type="pres">
      <dgm:prSet presAssocID="{7897FCA0-CB20-4FE2-A781-CE4C3BE6D4A7}" presName="sibTrans" presStyleCnt="0"/>
      <dgm:spPr/>
    </dgm:pt>
    <dgm:pt modelId="{A3CFFC56-D8F5-4EE4-A677-71B78BB94C50}" type="pres">
      <dgm:prSet presAssocID="{A14BE486-3399-48EC-BEBE-A2F8EFBAFA1C}" presName="node" presStyleLbl="node1" presStyleIdx="5" presStyleCnt="8">
        <dgm:presLayoutVars>
          <dgm:bulletEnabled val="1"/>
        </dgm:presLayoutVars>
      </dgm:prSet>
      <dgm:spPr/>
    </dgm:pt>
    <dgm:pt modelId="{D6FCE8C5-2C83-4F31-B454-F88A3E9BD43D}" type="pres">
      <dgm:prSet presAssocID="{9D1CAB07-ADA6-4331-8C22-58353631BBC1}" presName="sibTrans" presStyleCnt="0"/>
      <dgm:spPr/>
    </dgm:pt>
    <dgm:pt modelId="{5F7A4829-D189-4F8D-819B-7B1C9C6B4478}" type="pres">
      <dgm:prSet presAssocID="{D176C322-2D9A-48B7-B917-E35BFE5C6B79}" presName="node" presStyleLbl="node1" presStyleIdx="6" presStyleCnt="8">
        <dgm:presLayoutVars>
          <dgm:bulletEnabled val="1"/>
        </dgm:presLayoutVars>
      </dgm:prSet>
      <dgm:spPr/>
    </dgm:pt>
    <dgm:pt modelId="{50D13452-3489-4134-8F53-96FF87B95404}" type="pres">
      <dgm:prSet presAssocID="{32FDE70B-E372-47C7-AB23-0B466CA5620C}" presName="sibTrans" presStyleCnt="0"/>
      <dgm:spPr/>
    </dgm:pt>
    <dgm:pt modelId="{B0A5F069-C756-4898-9D06-F3E911BBA37C}" type="pres">
      <dgm:prSet presAssocID="{ECC3398D-7C65-49C9-848A-97AC544D2B8E}" presName="node" presStyleLbl="node1" presStyleIdx="7" presStyleCnt="8">
        <dgm:presLayoutVars>
          <dgm:bulletEnabled val="1"/>
        </dgm:presLayoutVars>
      </dgm:prSet>
      <dgm:spPr/>
    </dgm:pt>
  </dgm:ptLst>
  <dgm:cxnLst>
    <dgm:cxn modelId="{584F8103-4C36-444C-9691-223D59E254A7}" srcId="{E6C6636C-E5DC-4759-91FA-3F5F92DD966B}" destId="{ECC3398D-7C65-49C9-848A-97AC544D2B8E}" srcOrd="7" destOrd="0" parTransId="{F3DB7B1E-CE77-4469-8218-2CC879DBCE31}" sibTransId="{824E4178-74E2-4DE4-88E2-4E0D945F5FD5}"/>
    <dgm:cxn modelId="{4CA7DE17-88CD-4B19-9052-5A393DFF91A5}" type="presOf" srcId="{ECC3398D-7C65-49C9-848A-97AC544D2B8E}" destId="{B0A5F069-C756-4898-9D06-F3E911BBA37C}" srcOrd="0" destOrd="0" presId="urn:microsoft.com/office/officeart/2005/8/layout/default"/>
    <dgm:cxn modelId="{2FB90A5E-42AD-4B25-93EE-6FF92FFA6FEB}" type="presOf" srcId="{A14BE486-3399-48EC-BEBE-A2F8EFBAFA1C}" destId="{A3CFFC56-D8F5-4EE4-A677-71B78BB94C50}" srcOrd="0" destOrd="0" presId="urn:microsoft.com/office/officeart/2005/8/layout/default"/>
    <dgm:cxn modelId="{35CCCC69-7070-4CD4-B8E6-0DDAEEF173B0}" type="presOf" srcId="{89698F5E-6B15-4E01-B510-B0E62AD80300}" destId="{4386E6BA-69DD-41C7-BFC0-1C78DFB5F138}" srcOrd="0" destOrd="0" presId="urn:microsoft.com/office/officeart/2005/8/layout/default"/>
    <dgm:cxn modelId="{DD76AA6F-90DC-4B8C-B881-432DCD6BE220}" type="presOf" srcId="{D176C322-2D9A-48B7-B917-E35BFE5C6B79}" destId="{5F7A4829-D189-4F8D-819B-7B1C9C6B4478}" srcOrd="0" destOrd="0" presId="urn:microsoft.com/office/officeart/2005/8/layout/default"/>
    <dgm:cxn modelId="{2315E670-D443-4B3A-AA86-2717884888E9}" type="presOf" srcId="{C3070161-89FC-469B-96EB-171AB87AEE8F}" destId="{795E88A1-1E68-4450-ABD3-E6573B5AB6E2}" srcOrd="0" destOrd="0" presId="urn:microsoft.com/office/officeart/2005/8/layout/default"/>
    <dgm:cxn modelId="{A2240052-9E26-41AC-AE17-49B5583140A0}" srcId="{E6C6636C-E5DC-4759-91FA-3F5F92DD966B}" destId="{D176C322-2D9A-48B7-B917-E35BFE5C6B79}" srcOrd="6" destOrd="0" parTransId="{EC6C5DF8-5ECA-483C-8791-E7DE2F2D48AC}" sibTransId="{32FDE70B-E372-47C7-AB23-0B466CA5620C}"/>
    <dgm:cxn modelId="{ADECB372-2730-4AA0-B1C9-B29503E2D30F}" type="presOf" srcId="{1BB775B9-C27C-415D-AB0E-A701549B07DA}" destId="{43708ED2-AF58-4CA2-9EFF-5759B0D9AFAE}" srcOrd="0" destOrd="0" presId="urn:microsoft.com/office/officeart/2005/8/layout/default"/>
    <dgm:cxn modelId="{3617A682-31D2-491D-BA97-01590F574EA9}" type="presOf" srcId="{E6C6636C-E5DC-4759-91FA-3F5F92DD966B}" destId="{23F52D64-C568-41C2-B76A-8B0D490AA1A5}" srcOrd="0" destOrd="0" presId="urn:microsoft.com/office/officeart/2005/8/layout/default"/>
    <dgm:cxn modelId="{F113F295-B179-401D-B4A2-039B10984F41}" srcId="{E6C6636C-E5DC-4759-91FA-3F5F92DD966B}" destId="{1BB775B9-C27C-415D-AB0E-A701549B07DA}" srcOrd="0" destOrd="0" parTransId="{2206B9ED-5D5F-4EE7-8A8C-5141EB0BF516}" sibTransId="{7E8C8BC4-2FA3-4C68-A48B-90ECE7E9A14A}"/>
    <dgm:cxn modelId="{32783A98-3DBD-4067-9FC6-77AE7297A310}" srcId="{E6C6636C-E5DC-4759-91FA-3F5F92DD966B}" destId="{89698F5E-6B15-4E01-B510-B0E62AD80300}" srcOrd="2" destOrd="0" parTransId="{C02C7C56-0DD6-4934-8296-E82364096FC7}" sibTransId="{C54E4DF8-40BB-4CB8-B4EF-34E9B1DC8656}"/>
    <dgm:cxn modelId="{F7B045A2-B60A-437D-BCF6-EB2856AC0F6D}" type="presOf" srcId="{3717C318-C395-4179-A675-035C23F6CEDF}" destId="{32F191AA-4FA0-48B1-960F-4E7511614903}" srcOrd="0" destOrd="0" presId="urn:microsoft.com/office/officeart/2005/8/layout/default"/>
    <dgm:cxn modelId="{8151BEAE-BE13-4606-B795-FEC1D708D77B}" type="presOf" srcId="{27FC6F59-4746-45E3-814C-F14AA5340598}" destId="{5307F857-C2B0-4F3A-8C40-D9A58DD05B44}" srcOrd="0" destOrd="0" presId="urn:microsoft.com/office/officeart/2005/8/layout/default"/>
    <dgm:cxn modelId="{ABD55BC3-BC7D-4993-BE41-5475301C92F3}" srcId="{E6C6636C-E5DC-4759-91FA-3F5F92DD966B}" destId="{A14BE486-3399-48EC-BEBE-A2F8EFBAFA1C}" srcOrd="5" destOrd="0" parTransId="{F2E2B894-2C6C-4D62-97B0-19D2FD953DB0}" sibTransId="{9D1CAB07-ADA6-4331-8C22-58353631BBC1}"/>
    <dgm:cxn modelId="{27E5C1CD-D6A7-44AF-9361-00F27EF5F718}" srcId="{E6C6636C-E5DC-4759-91FA-3F5F92DD966B}" destId="{C3070161-89FC-469B-96EB-171AB87AEE8F}" srcOrd="4" destOrd="0" parTransId="{FEF18C51-BA8D-47CD-9F6E-6171444D6238}" sibTransId="{7897FCA0-CB20-4FE2-A781-CE4C3BE6D4A7}"/>
    <dgm:cxn modelId="{96329FD1-9347-40A1-8A5D-8C651EE641FA}" srcId="{E6C6636C-E5DC-4759-91FA-3F5F92DD966B}" destId="{27FC6F59-4746-45E3-814C-F14AA5340598}" srcOrd="1" destOrd="0" parTransId="{07682FAF-E46A-41C7-841A-14CB6C8B56AD}" sibTransId="{76BD095B-2431-4897-8B00-520596D25ECB}"/>
    <dgm:cxn modelId="{C70F4BE4-D388-4C14-8644-07D705AFF8CB}" srcId="{E6C6636C-E5DC-4759-91FA-3F5F92DD966B}" destId="{3717C318-C395-4179-A675-035C23F6CEDF}" srcOrd="3" destOrd="0" parTransId="{B23E97DE-7BD8-45D0-9958-E8BDC2F98A69}" sibTransId="{5DDCACCB-9094-43CE-B08B-3BF796B71389}"/>
    <dgm:cxn modelId="{F75B24F4-7E48-4B97-8CCE-3FAF4F0353D6}" type="presParOf" srcId="{23F52D64-C568-41C2-B76A-8B0D490AA1A5}" destId="{43708ED2-AF58-4CA2-9EFF-5759B0D9AFAE}" srcOrd="0" destOrd="0" presId="urn:microsoft.com/office/officeart/2005/8/layout/default"/>
    <dgm:cxn modelId="{980A08E2-68D2-4BE9-B307-86312BD2F1CD}" type="presParOf" srcId="{23F52D64-C568-41C2-B76A-8B0D490AA1A5}" destId="{0423A876-6A35-431E-8C90-3922C09C934A}" srcOrd="1" destOrd="0" presId="urn:microsoft.com/office/officeart/2005/8/layout/default"/>
    <dgm:cxn modelId="{8F995307-1069-44CF-8D56-F38F61DAEA03}" type="presParOf" srcId="{23F52D64-C568-41C2-B76A-8B0D490AA1A5}" destId="{5307F857-C2B0-4F3A-8C40-D9A58DD05B44}" srcOrd="2" destOrd="0" presId="urn:microsoft.com/office/officeart/2005/8/layout/default"/>
    <dgm:cxn modelId="{F854BF15-26F8-41F5-9F93-436115B02F8C}" type="presParOf" srcId="{23F52D64-C568-41C2-B76A-8B0D490AA1A5}" destId="{781D5A97-E473-4411-823A-031E169A925C}" srcOrd="3" destOrd="0" presId="urn:microsoft.com/office/officeart/2005/8/layout/default"/>
    <dgm:cxn modelId="{F931E738-FD31-433C-B7FF-4E4D93ABCB7B}" type="presParOf" srcId="{23F52D64-C568-41C2-B76A-8B0D490AA1A5}" destId="{4386E6BA-69DD-41C7-BFC0-1C78DFB5F138}" srcOrd="4" destOrd="0" presId="urn:microsoft.com/office/officeart/2005/8/layout/default"/>
    <dgm:cxn modelId="{76040086-6ED7-47F6-BA40-AE0A5B6A4261}" type="presParOf" srcId="{23F52D64-C568-41C2-B76A-8B0D490AA1A5}" destId="{ABB005E6-B550-4B4E-AD9E-31336BB31045}" srcOrd="5" destOrd="0" presId="urn:microsoft.com/office/officeart/2005/8/layout/default"/>
    <dgm:cxn modelId="{5E5F1F6A-A044-4CB9-97BB-71EF2BFBC9F6}" type="presParOf" srcId="{23F52D64-C568-41C2-B76A-8B0D490AA1A5}" destId="{32F191AA-4FA0-48B1-960F-4E7511614903}" srcOrd="6" destOrd="0" presId="urn:microsoft.com/office/officeart/2005/8/layout/default"/>
    <dgm:cxn modelId="{D3F854FC-8932-47D4-AC6E-095D377FA870}" type="presParOf" srcId="{23F52D64-C568-41C2-B76A-8B0D490AA1A5}" destId="{5C76C5BC-9DD1-4579-A950-A6CC7363CFC7}" srcOrd="7" destOrd="0" presId="urn:microsoft.com/office/officeart/2005/8/layout/default"/>
    <dgm:cxn modelId="{FB3BCF70-EAA4-4657-9208-8C92A77B58A4}" type="presParOf" srcId="{23F52D64-C568-41C2-B76A-8B0D490AA1A5}" destId="{795E88A1-1E68-4450-ABD3-E6573B5AB6E2}" srcOrd="8" destOrd="0" presId="urn:microsoft.com/office/officeart/2005/8/layout/default"/>
    <dgm:cxn modelId="{A7D20DD1-61A5-403E-ABEE-6C01821CE1D7}" type="presParOf" srcId="{23F52D64-C568-41C2-B76A-8B0D490AA1A5}" destId="{0639B0F4-C8DC-443B-ADBD-B2AB8E991D96}" srcOrd="9" destOrd="0" presId="urn:microsoft.com/office/officeart/2005/8/layout/default"/>
    <dgm:cxn modelId="{B3F040D1-BB53-4CB6-8B0B-7B4CC77BE30E}" type="presParOf" srcId="{23F52D64-C568-41C2-B76A-8B0D490AA1A5}" destId="{A3CFFC56-D8F5-4EE4-A677-71B78BB94C50}" srcOrd="10" destOrd="0" presId="urn:microsoft.com/office/officeart/2005/8/layout/default"/>
    <dgm:cxn modelId="{24D05103-618B-4E06-899A-43ABC648EA87}" type="presParOf" srcId="{23F52D64-C568-41C2-B76A-8B0D490AA1A5}" destId="{D6FCE8C5-2C83-4F31-B454-F88A3E9BD43D}" srcOrd="11" destOrd="0" presId="urn:microsoft.com/office/officeart/2005/8/layout/default"/>
    <dgm:cxn modelId="{0374A796-283C-4A23-869E-54572A8BFEC2}" type="presParOf" srcId="{23F52D64-C568-41C2-B76A-8B0D490AA1A5}" destId="{5F7A4829-D189-4F8D-819B-7B1C9C6B4478}" srcOrd="12" destOrd="0" presId="urn:microsoft.com/office/officeart/2005/8/layout/default"/>
    <dgm:cxn modelId="{2EA378ED-C2D8-461F-B1A5-27400B360395}" type="presParOf" srcId="{23F52D64-C568-41C2-B76A-8B0D490AA1A5}" destId="{50D13452-3489-4134-8F53-96FF87B95404}" srcOrd="13" destOrd="0" presId="urn:microsoft.com/office/officeart/2005/8/layout/default"/>
    <dgm:cxn modelId="{DCE8766E-3BD7-4EC6-8A8E-184095AC8E06}" type="presParOf" srcId="{23F52D64-C568-41C2-B76A-8B0D490AA1A5}" destId="{B0A5F069-C756-4898-9D06-F3E911BBA37C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708ED2-AF58-4CA2-9EFF-5759B0D9AFAE}">
      <dsp:nvSpPr>
        <dsp:cNvPr id="0" name=""/>
        <dsp:cNvSpPr/>
      </dsp:nvSpPr>
      <dsp:spPr>
        <a:xfrm>
          <a:off x="3228" y="878651"/>
          <a:ext cx="2561618" cy="15369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Load Data from SQL</a:t>
          </a:r>
          <a:endParaRPr lang="en-US" sz="1400" kern="1200" dirty="0"/>
        </a:p>
      </dsp:txBody>
      <dsp:txXfrm>
        <a:off x="3228" y="878651"/>
        <a:ext cx="2561618" cy="1536971"/>
      </dsp:txXfrm>
    </dsp:sp>
    <dsp:sp modelId="{5307F857-C2B0-4F3A-8C40-D9A58DD05B44}">
      <dsp:nvSpPr>
        <dsp:cNvPr id="0" name=""/>
        <dsp:cNvSpPr/>
      </dsp:nvSpPr>
      <dsp:spPr>
        <a:xfrm>
          <a:off x="2821009" y="878651"/>
          <a:ext cx="2561618" cy="1536971"/>
        </a:xfrm>
        <a:prstGeom prst="rect">
          <a:avLst/>
        </a:prstGeom>
        <a:solidFill>
          <a:schemeClr val="accent2">
            <a:hueOff val="-1250633"/>
            <a:satOff val="-1129"/>
            <a:lumOff val="-25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Basic EDA (Exploratory Data Analysis) Use </a:t>
          </a:r>
          <a:r>
            <a:rPr lang="en-US" sz="1200" kern="1200" dirty="0" err="1"/>
            <a:t>df</a:t>
          </a:r>
          <a:r>
            <a:rPr lang="en-US" sz="1200" kern="1200" dirty="0"/>
            <a:t> .describe(), df.info(), and </a:t>
          </a:r>
          <a:r>
            <a:rPr lang="en-US" sz="1200" kern="1200" dirty="0" err="1"/>
            <a:t>df</a:t>
          </a:r>
          <a:r>
            <a:rPr lang="en-US" sz="1200" kern="1200" dirty="0"/>
            <a:t>. Value counts() to summarize the</a:t>
          </a:r>
          <a:r>
            <a:rPr lang="en-IN" sz="1200" kern="1200" dirty="0"/>
            <a:t> </a:t>
          </a:r>
          <a:r>
            <a:rPr lang="en-US" sz="1200" kern="1200" dirty="0"/>
            <a:t>dataset.</a:t>
          </a:r>
        </a:p>
      </dsp:txBody>
      <dsp:txXfrm>
        <a:off x="2821009" y="878651"/>
        <a:ext cx="2561618" cy="1536971"/>
      </dsp:txXfrm>
    </dsp:sp>
    <dsp:sp modelId="{4386E6BA-69DD-41C7-BFC0-1C78DFB5F138}">
      <dsp:nvSpPr>
        <dsp:cNvPr id="0" name=""/>
        <dsp:cNvSpPr/>
      </dsp:nvSpPr>
      <dsp:spPr>
        <a:xfrm>
          <a:off x="5638790" y="878651"/>
          <a:ext cx="2561618" cy="1536971"/>
        </a:xfrm>
        <a:prstGeom prst="rect">
          <a:avLst/>
        </a:prstGeom>
        <a:solidFill>
          <a:schemeClr val="accent2">
            <a:hueOff val="-2501266"/>
            <a:satOff val="-2257"/>
            <a:lumOff val="-50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Plot basic charts using matplotlib or seaborn.</a:t>
          </a:r>
        </a:p>
      </dsp:txBody>
      <dsp:txXfrm>
        <a:off x="5638790" y="878651"/>
        <a:ext cx="2561618" cy="1536971"/>
      </dsp:txXfrm>
    </dsp:sp>
    <dsp:sp modelId="{32F191AA-4FA0-48B1-960F-4E7511614903}">
      <dsp:nvSpPr>
        <dsp:cNvPr id="0" name=""/>
        <dsp:cNvSpPr/>
      </dsp:nvSpPr>
      <dsp:spPr>
        <a:xfrm>
          <a:off x="8456571" y="878651"/>
          <a:ext cx="2561618" cy="1536971"/>
        </a:xfrm>
        <a:prstGeom prst="rect">
          <a:avLst/>
        </a:prstGeom>
        <a:solidFill>
          <a:schemeClr val="accent2">
            <a:hueOff val="-3751899"/>
            <a:satOff val="-3386"/>
            <a:lumOff val="-75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Calculate RFM Features for Customers</a:t>
          </a:r>
          <a:r>
            <a:rPr lang="en-IN" sz="1200" kern="1200" dirty="0"/>
            <a:t> segmentation</a:t>
          </a:r>
          <a:endParaRPr lang="en-US" sz="1200" kern="1200" dirty="0"/>
        </a:p>
      </dsp:txBody>
      <dsp:txXfrm>
        <a:off x="8456571" y="878651"/>
        <a:ext cx="2561618" cy="1536971"/>
      </dsp:txXfrm>
    </dsp:sp>
    <dsp:sp modelId="{795E88A1-1E68-4450-ABD3-E6573B5AB6E2}">
      <dsp:nvSpPr>
        <dsp:cNvPr id="0" name=""/>
        <dsp:cNvSpPr/>
      </dsp:nvSpPr>
      <dsp:spPr>
        <a:xfrm>
          <a:off x="3228" y="2671784"/>
          <a:ext cx="2561618" cy="1536971"/>
        </a:xfrm>
        <a:prstGeom prst="rect">
          <a:avLst/>
        </a:prstGeom>
        <a:solidFill>
          <a:schemeClr val="accent2">
            <a:hueOff val="-5002532"/>
            <a:satOff val="-4514"/>
            <a:lumOff val="-100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Recency: Days since last order</a:t>
          </a:r>
        </a:p>
      </dsp:txBody>
      <dsp:txXfrm>
        <a:off x="3228" y="2671784"/>
        <a:ext cx="2561618" cy="1536971"/>
      </dsp:txXfrm>
    </dsp:sp>
    <dsp:sp modelId="{A3CFFC56-D8F5-4EE4-A677-71B78BB94C50}">
      <dsp:nvSpPr>
        <dsp:cNvPr id="0" name=""/>
        <dsp:cNvSpPr/>
      </dsp:nvSpPr>
      <dsp:spPr>
        <a:xfrm>
          <a:off x="2821009" y="2671784"/>
          <a:ext cx="2561618" cy="1536971"/>
        </a:xfrm>
        <a:prstGeom prst="rect">
          <a:avLst/>
        </a:prstGeom>
        <a:solidFill>
          <a:schemeClr val="accent2">
            <a:hueOff val="-6253165"/>
            <a:satOff val="-5643"/>
            <a:lumOff val="-125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Frequency: Number of orders</a:t>
          </a:r>
        </a:p>
      </dsp:txBody>
      <dsp:txXfrm>
        <a:off x="2821009" y="2671784"/>
        <a:ext cx="2561618" cy="1536971"/>
      </dsp:txXfrm>
    </dsp:sp>
    <dsp:sp modelId="{5F7A4829-D189-4F8D-819B-7B1C9C6B4478}">
      <dsp:nvSpPr>
        <dsp:cNvPr id="0" name=""/>
        <dsp:cNvSpPr/>
      </dsp:nvSpPr>
      <dsp:spPr>
        <a:xfrm>
          <a:off x="5638790" y="2671784"/>
          <a:ext cx="2561618" cy="1536971"/>
        </a:xfrm>
        <a:prstGeom prst="rect">
          <a:avLst/>
        </a:prstGeom>
        <a:solidFill>
          <a:schemeClr val="accent2">
            <a:hueOff val="-7503798"/>
            <a:satOff val="-6771"/>
            <a:lumOff val="-151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Monetary: Total value of all purchases</a:t>
          </a:r>
        </a:p>
      </dsp:txBody>
      <dsp:txXfrm>
        <a:off x="5638790" y="2671784"/>
        <a:ext cx="2561618" cy="1536971"/>
      </dsp:txXfrm>
    </dsp:sp>
    <dsp:sp modelId="{B0A5F069-C756-4898-9D06-F3E911BBA37C}">
      <dsp:nvSpPr>
        <dsp:cNvPr id="0" name=""/>
        <dsp:cNvSpPr/>
      </dsp:nvSpPr>
      <dsp:spPr>
        <a:xfrm>
          <a:off x="8456571" y="2671784"/>
          <a:ext cx="2561618" cy="1536971"/>
        </a:xfrm>
        <a:prstGeom prst="rect">
          <a:avLst/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Export Segmentation Results to SQL</a:t>
          </a:r>
        </a:p>
      </dsp:txBody>
      <dsp:txXfrm>
        <a:off x="8456571" y="2671784"/>
        <a:ext cx="2561618" cy="1536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0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15086-06BC-4F78-B508-4E1F94CCB86B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4AFE6-52F8-436F-9DAC-607E2BE5A9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63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85BB-8327-437A-900F-6A3DB7A5ABC9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A0BC-E7BB-4D55-8710-E8474A66771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A1C5-682A-4617-9A91-5759A79A935B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D0D0-99D2-4A10-AC62-6E2E6CF7A9E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DEDF-EB2B-4F7F-B2DF-97C28C8FCBC9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0351-56D7-412F-9F2E-17819DF3B01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F068B-C601-4124-944A-AED7D3FD7517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7A73-7818-460B-8F62-87CD8A1DAD1A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F8665-A302-4073-9097-DCE6BA8A5D14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878A-9A6C-446F-AE2D-FA0E8037C59B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C5687-D9F1-45E2-A621-A964456C9C51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05D98-6779-42E9-AA36-C6D6C2CA339B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17-4E55-454A-B008-5B316A3C4A1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5336-EDD6-4B11-BDCB-D9716D9D0CA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0B30B-3EA6-4689-8E7C-D798375DFD60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5E6C6-E680-4C09-9A82-6D6D4A458B45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BBFA-E374-465F-B18D-F6CE71921593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8D89FA6-8D64-42DE-8A02-4A6662349BF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A675F33-98AF-4B83-A3BB-0780A2314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D85834-55D9-470E-9834-623384F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418" b="6313"/>
          <a:stretch/>
        </p:blipFill>
        <p:spPr>
          <a:xfrm>
            <a:off x="-3175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812CC5-3F64-4837-AE94-66C400A32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2325" y="1479544"/>
            <a:ext cx="8001000" cy="2971801"/>
          </a:xfrm>
        </p:spPr>
        <p:txBody>
          <a:bodyPr>
            <a:norm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US" dirty="0"/>
              <a:t>Retail Sales Analytics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012D5-B732-49FA-8D2C-A5C52B364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73" y="3708776"/>
            <a:ext cx="6765100" cy="98296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Using Excel, SQL, Power BI and Python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Final Project Presentation.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CAB18-C9A0-9DCB-3F86-461F9C567510}"/>
              </a:ext>
            </a:extLst>
          </p:cNvPr>
          <p:cNvSpPr txBox="1"/>
          <p:nvPr/>
        </p:nvSpPr>
        <p:spPr>
          <a:xfrm rot="10800000" flipH="1" flipV="1">
            <a:off x="8639183" y="5437323"/>
            <a:ext cx="245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 Parthasarathy</a:t>
            </a:r>
          </a:p>
        </p:txBody>
      </p:sp>
    </p:spTree>
    <p:extLst>
      <p:ext uri="{BB962C8B-B14F-4D97-AF65-F5344CB8AC3E}">
        <p14:creationId xmlns:p14="http://schemas.microsoft.com/office/powerpoint/2010/main" val="3857310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9725E57-3EC1-2F39-6001-AE4C8F01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418" b="6313"/>
          <a:stretch/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36CEC3-09F6-81A4-0631-981A6AA25EC3}"/>
              </a:ext>
            </a:extLst>
          </p:cNvPr>
          <p:cNvSpPr txBox="1"/>
          <p:nvPr/>
        </p:nvSpPr>
        <p:spPr>
          <a:xfrm>
            <a:off x="730771" y="429453"/>
            <a:ext cx="61084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Problem Statement:</a:t>
            </a:r>
            <a:br>
              <a:rPr lang="en-IN" sz="4000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D88E6-A81D-D255-7174-74C3E7DB003E}"/>
              </a:ext>
            </a:extLst>
          </p:cNvPr>
          <p:cNvSpPr txBox="1"/>
          <p:nvPr/>
        </p:nvSpPr>
        <p:spPr>
          <a:xfrm>
            <a:off x="1322883" y="2211082"/>
            <a:ext cx="7558790" cy="1840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In a competitive retail market, businesses need to track, Sales performance, understand customer behavior, and identify growth opportunities.</a:t>
            </a:r>
            <a:endParaRPr lang="en-IN" sz="2000" dirty="0"/>
          </a:p>
          <a:p>
            <a:pPr lvl="0">
              <a:lnSpc>
                <a:spcPct val="150000"/>
              </a:lnSpc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A69E2-D649-19AC-2997-3867FE2D9851}"/>
              </a:ext>
            </a:extLst>
          </p:cNvPr>
          <p:cNvSpPr txBox="1"/>
          <p:nvPr/>
        </p:nvSpPr>
        <p:spPr>
          <a:xfrm>
            <a:off x="1322883" y="3726826"/>
            <a:ext cx="7243996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This explanations aims to</a:t>
            </a:r>
            <a:r>
              <a:rPr lang="en-IN" sz="2000" dirty="0"/>
              <a:t> </a:t>
            </a:r>
            <a:r>
              <a:rPr lang="en-US" sz="2000" dirty="0"/>
              <a:t>build an end-to-end analytics solution that enables insights generation from raw.</a:t>
            </a:r>
          </a:p>
        </p:txBody>
      </p:sp>
    </p:spTree>
    <p:extLst>
      <p:ext uri="{BB962C8B-B14F-4D97-AF65-F5344CB8AC3E}">
        <p14:creationId xmlns:p14="http://schemas.microsoft.com/office/powerpoint/2010/main" val="424460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5C45F8-345F-1363-79D0-71E1A003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418" b="6313"/>
          <a:stretch/>
        </p:blipFill>
        <p:spPr>
          <a:xfrm>
            <a:off x="0" y="-25389"/>
            <a:ext cx="1219200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608CC3-A9B1-5F1F-1EC3-06DB93B1408F}"/>
              </a:ext>
            </a:extLst>
          </p:cNvPr>
          <p:cNvSpPr txBox="1"/>
          <p:nvPr/>
        </p:nvSpPr>
        <p:spPr>
          <a:xfrm>
            <a:off x="1075544" y="677906"/>
            <a:ext cx="61084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70000"/>
            </a:pPr>
            <a:r>
              <a:rPr lang="en-US" sz="3600" dirty="0"/>
              <a:t>Main Objective of Analysis</a:t>
            </a:r>
            <a:br>
              <a:rPr lang="en-IN" sz="2000" dirty="0"/>
            </a:b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78BEB-E6AE-CFA3-2F7B-7BECCD32CB19}"/>
              </a:ext>
            </a:extLst>
          </p:cNvPr>
          <p:cNvSpPr txBox="1"/>
          <p:nvPr/>
        </p:nvSpPr>
        <p:spPr>
          <a:xfrm>
            <a:off x="1180475" y="2226437"/>
            <a:ext cx="61084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cap="none" dirty="0"/>
              <a:t>Data cleaning and preprocessing using excel.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D7693-A1C2-1591-B3A9-2A5153487308}"/>
              </a:ext>
            </a:extLst>
          </p:cNvPr>
          <p:cNvSpPr txBox="1"/>
          <p:nvPr/>
        </p:nvSpPr>
        <p:spPr>
          <a:xfrm>
            <a:off x="1180475" y="2782669"/>
            <a:ext cx="6976554" cy="49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cap="none" dirty="0"/>
              <a:t>Data storage, </a:t>
            </a:r>
            <a:r>
              <a:rPr lang="en-US" sz="2000" cap="none" dirty="0"/>
              <a:t>querying</a:t>
            </a:r>
            <a:r>
              <a:rPr lang="en-US" sz="1800" cap="none" dirty="0"/>
              <a:t> and transformation using SQL.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0C8F2-2088-B2A8-D928-DD622383BA88}"/>
              </a:ext>
            </a:extLst>
          </p:cNvPr>
          <p:cNvSpPr txBox="1"/>
          <p:nvPr/>
        </p:nvSpPr>
        <p:spPr>
          <a:xfrm>
            <a:off x="1075544" y="3429000"/>
            <a:ext cx="8787984" cy="49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/>
              <a:t> Analysis and Visualization using Python (Pandas, Matplotlib/Seaborn.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24436-3CA8-B12C-814D-0AC0437F4439}"/>
              </a:ext>
            </a:extLst>
          </p:cNvPr>
          <p:cNvSpPr txBox="1"/>
          <p:nvPr/>
        </p:nvSpPr>
        <p:spPr>
          <a:xfrm>
            <a:off x="1190468" y="4106994"/>
            <a:ext cx="7194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dirty="0"/>
              <a:t>Customer Segmentation using Machine Learning.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3E327-0B7F-0BA2-FB87-C516A0AE8538}"/>
              </a:ext>
            </a:extLst>
          </p:cNvPr>
          <p:cNvSpPr txBox="1"/>
          <p:nvPr/>
        </p:nvSpPr>
        <p:spPr>
          <a:xfrm>
            <a:off x="1095530" y="4726910"/>
            <a:ext cx="61084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dirty="0"/>
              <a:t> </a:t>
            </a:r>
            <a:r>
              <a:rPr lang="en-US" sz="2000" dirty="0"/>
              <a:t>Using Power bi </a:t>
            </a:r>
            <a:r>
              <a:rPr lang="en-US" sz="2000" dirty="0" err="1"/>
              <a:t>intractive</a:t>
            </a:r>
            <a:r>
              <a:rPr lang="en-US" sz="2000" dirty="0"/>
              <a:t> dashboard.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A3F618-1DBF-ECFE-5F78-8378ADA5196A}"/>
              </a:ext>
            </a:extLst>
          </p:cNvPr>
          <p:cNvSpPr txBox="1"/>
          <p:nvPr/>
        </p:nvSpPr>
        <p:spPr>
          <a:xfrm>
            <a:off x="1190468" y="5346826"/>
            <a:ext cx="61084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dirty="0"/>
              <a:t>End-to-End Data Pipeline Integration.</a:t>
            </a:r>
          </a:p>
        </p:txBody>
      </p:sp>
    </p:spTree>
    <p:extLst>
      <p:ext uri="{BB962C8B-B14F-4D97-AF65-F5344CB8AC3E}">
        <p14:creationId xmlns:p14="http://schemas.microsoft.com/office/powerpoint/2010/main" val="2446910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FD67C4-69E3-D1B3-A9B1-26D583CD0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418" b="6313"/>
          <a:stretch/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677709-D3D4-F3D7-B0A4-EBC42751D6F2}"/>
              </a:ext>
            </a:extLst>
          </p:cNvPr>
          <p:cNvSpPr txBox="1"/>
          <p:nvPr/>
        </p:nvSpPr>
        <p:spPr>
          <a:xfrm>
            <a:off x="655820" y="604949"/>
            <a:ext cx="6108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600" dirty="0"/>
              <a:t>Excel – Data Cleaning &amp;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12DE5-9C0F-3147-2D5D-5751870DBA77}"/>
              </a:ext>
            </a:extLst>
          </p:cNvPr>
          <p:cNvSpPr txBox="1"/>
          <p:nvPr/>
        </p:nvSpPr>
        <p:spPr>
          <a:xfrm>
            <a:off x="655820" y="2221255"/>
            <a:ext cx="94925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/>
              <a:t>Standardize Column Headers. (e.g., use </a:t>
            </a:r>
            <a:r>
              <a:rPr lang="en-US" sz="2000" dirty="0" err="1"/>
              <a:t>snake_case</a:t>
            </a:r>
            <a:r>
              <a:rPr lang="en-US" sz="2000" dirty="0"/>
              <a:t> or camelCase).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BAF7D-89D5-77C5-C8FC-CCFDB8A48253}"/>
              </a:ext>
            </a:extLst>
          </p:cNvPr>
          <p:cNvSpPr txBox="1"/>
          <p:nvPr/>
        </p:nvSpPr>
        <p:spPr>
          <a:xfrm>
            <a:off x="670809" y="2721114"/>
            <a:ext cx="94925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/>
              <a:t>Remove Duplicates</a:t>
            </a:r>
            <a:r>
              <a:rPr lang="en-IN" sz="2000" dirty="0"/>
              <a:t> </a:t>
            </a:r>
            <a:r>
              <a:rPr lang="en-US" sz="2000" dirty="0"/>
              <a:t>in a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6B788-977A-4080-8206-50F831745302}"/>
              </a:ext>
            </a:extLst>
          </p:cNvPr>
          <p:cNvSpPr txBox="1"/>
          <p:nvPr/>
        </p:nvSpPr>
        <p:spPr>
          <a:xfrm>
            <a:off x="655817" y="3386024"/>
            <a:ext cx="8847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/>
              <a:t>Fill missing values to change “NA” in a cells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482F99-35DA-7D81-A0E9-E4F28A48DA1E}"/>
              </a:ext>
            </a:extLst>
          </p:cNvPr>
          <p:cNvSpPr txBox="1"/>
          <p:nvPr/>
        </p:nvSpPr>
        <p:spPr>
          <a:xfrm>
            <a:off x="655817" y="4113447"/>
            <a:ext cx="9912248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US" sz="2000" dirty="0"/>
              <a:t>Add a column in </a:t>
            </a:r>
            <a:r>
              <a:rPr lang="en-US" sz="2000" dirty="0" err="1"/>
              <a:t>order_items</a:t>
            </a:r>
            <a:r>
              <a:rPr lang="en-US" sz="2000" dirty="0"/>
              <a:t> to calculate </a:t>
            </a:r>
          </a:p>
          <a:p>
            <a:pPr lvl="0">
              <a:lnSpc>
                <a:spcPct val="150000"/>
              </a:lnSpc>
            </a:pPr>
            <a:r>
              <a:rPr lang="en-US" sz="2000" dirty="0"/>
              <a:t>      </a:t>
            </a:r>
            <a:r>
              <a:rPr lang="en-US" sz="2000" dirty="0" err="1"/>
              <a:t>total_price</a:t>
            </a:r>
            <a:r>
              <a:rPr lang="en-US" sz="2000" dirty="0"/>
              <a:t> = (</a:t>
            </a:r>
            <a:r>
              <a:rPr lang="en-US" sz="2000" dirty="0" err="1"/>
              <a:t>list_price</a:t>
            </a:r>
            <a:r>
              <a:rPr lang="en-US" sz="2000" dirty="0"/>
              <a:t> *</a:t>
            </a:r>
            <a:r>
              <a:rPr lang="en-IN" sz="2000" dirty="0"/>
              <a:t> </a:t>
            </a:r>
            <a:r>
              <a:rPr lang="en-US" sz="2000" dirty="0"/>
              <a:t>quantity) - discount.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2C11F2-AC89-A9A1-4ACB-A2C5C967D006}"/>
              </a:ext>
            </a:extLst>
          </p:cNvPr>
          <p:cNvSpPr txBox="1"/>
          <p:nvPr/>
        </p:nvSpPr>
        <p:spPr>
          <a:xfrm>
            <a:off x="655818" y="5295930"/>
            <a:ext cx="9492519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VLOOKUP and XLOOKUP are used to merge data from different tables by matching a common ID.</a:t>
            </a:r>
          </a:p>
        </p:txBody>
      </p:sp>
    </p:spTree>
    <p:extLst>
      <p:ext uri="{BB962C8B-B14F-4D97-AF65-F5344CB8AC3E}">
        <p14:creationId xmlns:p14="http://schemas.microsoft.com/office/powerpoint/2010/main" val="78208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960468-F0EB-D18E-B5B8-2E90DFFB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418" b="6313"/>
          <a:stretch/>
        </p:blipFill>
        <p:spPr>
          <a:xfrm>
            <a:off x="0" y="0"/>
            <a:ext cx="1219200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8EF323-1312-1AB6-B920-7E8390FA9F11}"/>
              </a:ext>
            </a:extLst>
          </p:cNvPr>
          <p:cNvSpPr txBox="1"/>
          <p:nvPr/>
        </p:nvSpPr>
        <p:spPr>
          <a:xfrm>
            <a:off x="520908" y="532789"/>
            <a:ext cx="6854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SQL – Database Management and Querying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88E4D6-9AFA-D7F8-A546-96C3B0BBE505}"/>
              </a:ext>
            </a:extLst>
          </p:cNvPr>
          <p:cNvSpPr txBox="1"/>
          <p:nvPr/>
        </p:nvSpPr>
        <p:spPr>
          <a:xfrm>
            <a:off x="520906" y="2052376"/>
            <a:ext cx="70641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/>
              <a:t>Create Tables Based on </a:t>
            </a:r>
            <a:r>
              <a:rPr lang="en-US" sz="2000" dirty="0" err="1"/>
              <a:t>Entite</a:t>
            </a:r>
            <a:r>
              <a:rPr lang="en-US" sz="2000" dirty="0"/>
              <a:t> relationship Diagram.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B7E5ED-A121-ECAC-0A01-34ACCED07F9D}"/>
              </a:ext>
            </a:extLst>
          </p:cNvPr>
          <p:cNvSpPr txBox="1"/>
          <p:nvPr/>
        </p:nvSpPr>
        <p:spPr>
          <a:xfrm>
            <a:off x="520906" y="2651442"/>
            <a:ext cx="9162740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 used SQL queries with JOINS, GROUP BY, ORDER BY and aggregation functions to analyze the data.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6FB16E-0936-702B-FD44-EBEA98985A73}"/>
              </a:ext>
            </a:extLst>
          </p:cNvPr>
          <p:cNvSpPr txBox="1"/>
          <p:nvPr/>
        </p:nvSpPr>
        <p:spPr>
          <a:xfrm>
            <a:off x="520907" y="5085220"/>
            <a:ext cx="9162739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 created a </a:t>
            </a:r>
            <a:r>
              <a:rPr lang="en-US" sz="2000" dirty="0" err="1"/>
              <a:t>customer_segments</a:t>
            </a:r>
            <a:r>
              <a:rPr lang="en-US" sz="2000" dirty="0"/>
              <a:t> table to store the Python machine learning segmentation results.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03FF11-780D-A974-CFA1-D905C00B3FA6}"/>
              </a:ext>
            </a:extLst>
          </p:cNvPr>
          <p:cNvSpPr txBox="1"/>
          <p:nvPr/>
        </p:nvSpPr>
        <p:spPr>
          <a:xfrm>
            <a:off x="520906" y="3807519"/>
            <a:ext cx="8982858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Top 5 Selling Products Use ORDER BY and LIMIT to get the top 5 most sold products by</a:t>
            </a:r>
            <a:r>
              <a:rPr lang="en-IN" sz="2000" dirty="0"/>
              <a:t> </a:t>
            </a:r>
            <a:r>
              <a:rPr lang="en-US" sz="2000" dirty="0"/>
              <a:t>quantity.</a:t>
            </a:r>
          </a:p>
        </p:txBody>
      </p:sp>
    </p:spTree>
    <p:extLst>
      <p:ext uri="{BB962C8B-B14F-4D97-AF65-F5344CB8AC3E}">
        <p14:creationId xmlns:p14="http://schemas.microsoft.com/office/powerpoint/2010/main" val="695774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795381-3784-1F20-D5B6-ADC0730B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418" b="6313"/>
          <a:stretch/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3DE674-6265-2352-5AD3-5620AF27E4C2}"/>
              </a:ext>
            </a:extLst>
          </p:cNvPr>
          <p:cNvSpPr txBox="1"/>
          <p:nvPr/>
        </p:nvSpPr>
        <p:spPr>
          <a:xfrm>
            <a:off x="539646" y="472191"/>
            <a:ext cx="61084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/>
              <a:t>Python and Pandas</a:t>
            </a:r>
            <a:endParaRPr lang="en-IN" sz="3600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D72B3C3-6FD6-DDBF-E015-D087FC839C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3431221"/>
              </p:ext>
            </p:extLst>
          </p:nvPr>
        </p:nvGraphicFramePr>
        <p:xfrm>
          <a:off x="539646" y="1118521"/>
          <a:ext cx="11021419" cy="5087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116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8E3AD4-6CDD-3D91-B4A6-483C2D58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418" b="6313"/>
          <a:stretch/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E0E195-8D8C-25EE-8597-AA2B319556C0}"/>
              </a:ext>
            </a:extLst>
          </p:cNvPr>
          <p:cNvSpPr txBox="1"/>
          <p:nvPr/>
        </p:nvSpPr>
        <p:spPr>
          <a:xfrm>
            <a:off x="535897" y="228018"/>
            <a:ext cx="6108492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Power BI – Visualization &amp; Dashboarding</a:t>
            </a:r>
            <a:br>
              <a:rPr lang="en-IN" sz="2500" dirty="0"/>
            </a:br>
            <a:br>
              <a:rPr lang="en-IN" sz="2500" dirty="0"/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E0552-C78C-3BD3-0966-D2546ABE92BF}"/>
              </a:ext>
            </a:extLst>
          </p:cNvPr>
          <p:cNvSpPr txBox="1"/>
          <p:nvPr/>
        </p:nvSpPr>
        <p:spPr>
          <a:xfrm>
            <a:off x="972039" y="1766295"/>
            <a:ext cx="8966440" cy="3727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 used Power BI to create an interactive dashboard for my Retail Sales Analysis.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Created DAX measures, and used different visualizations such as charts, KPI cards, tables, and slicers.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dashboard helps analyze sales trends, product performance, customer behavior, store performance, and staff revenue.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Finally, Power BI helped me convert raw data into meaningful business insights.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13664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31FD20-8316-BF98-18CE-A92696668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418" b="6313"/>
          <a:stretch/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EAA9C0-1E94-5248-D6B6-9C5D90B7F239}"/>
              </a:ext>
            </a:extLst>
          </p:cNvPr>
          <p:cNvSpPr txBox="1"/>
          <p:nvPr/>
        </p:nvSpPr>
        <p:spPr>
          <a:xfrm>
            <a:off x="655820" y="613719"/>
            <a:ext cx="61084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Conclusion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BAA2D-5B29-0BD7-F5CD-4102C8EF27D8}"/>
              </a:ext>
            </a:extLst>
          </p:cNvPr>
          <p:cNvSpPr txBox="1"/>
          <p:nvPr/>
        </p:nvSpPr>
        <p:spPr>
          <a:xfrm>
            <a:off x="1707235" y="1873759"/>
            <a:ext cx="8287522" cy="390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Cleaned and organized the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Analyzed sales and customer data, Identified customer segments.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Created an interactive Power BI dashboard.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Generated useful business insights.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Completed the flow from Excel → SQL → Python → Power BI.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2848898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4EACEA8AC73D4896B0273F4C791F3B" ma:contentTypeVersion="4" ma:contentTypeDescription="Create a new document." ma:contentTypeScope="" ma:versionID="0ec01e6da2a4275349a6756878cfcd8b">
  <xsd:schema xmlns:xsd="http://www.w3.org/2001/XMLSchema" xmlns:xs="http://www.w3.org/2001/XMLSchema" xmlns:p="http://schemas.microsoft.com/office/2006/metadata/properties" xmlns:ns3="a5fc2fc9-473f-4006-aa8b-f75976922094" targetNamespace="http://schemas.microsoft.com/office/2006/metadata/properties" ma:root="true" ma:fieldsID="f812e2817addd5a4cfb4fb01d49cd8c4" ns3:_="">
    <xsd:import namespace="a5fc2fc9-473f-4006-aa8b-f7597692209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fc2fc9-473f-4006-aa8b-f7597692209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42A6FD3-4D22-4C9D-B873-6C75AF2EEA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fc2fc9-473f-4006-aa8b-f759769220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FDEB4C-941C-4EBE-9462-062D8A0ADE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B414F3-C833-4395-8C69-0E806C518171}">
  <ds:schemaRefs>
    <ds:schemaRef ds:uri="http://schemas.microsoft.com/office/infopath/2007/PartnerControls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a5fc2fc9-473f-4006-aa8b-f75976922094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 design</Template>
  <TotalTime>515</TotalTime>
  <Words>457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Wingdings</vt:lpstr>
      <vt:lpstr>Wingdings 3</vt:lpstr>
      <vt:lpstr>Slice</vt:lpstr>
      <vt:lpstr>Retail Sales Analytics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S0332438</dc:creator>
  <cp:lastModifiedBy>Partha Sarathy</cp:lastModifiedBy>
  <cp:revision>6</cp:revision>
  <dcterms:created xsi:type="dcterms:W3CDTF">2026-09-21T06:57:42Z</dcterms:created>
  <dcterms:modified xsi:type="dcterms:W3CDTF">2026-09-25T12:55:05Z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0x010100BC4EACEA8AC73D4896B0273F4C791F3B</vt:lpwstr>
  </property>
</Properties>
</file>